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5"/>
  </p:notesMasterIdLst>
  <p:sldIdLst>
    <p:sldId id="256" r:id="rId2"/>
    <p:sldId id="257" r:id="rId3"/>
    <p:sldId id="258" r:id="rId4"/>
    <p:sldId id="259" r:id="rId5"/>
    <p:sldId id="260" r:id="rId6"/>
    <p:sldId id="267" r:id="rId7"/>
    <p:sldId id="261" r:id="rId8"/>
    <p:sldId id="262" r:id="rId9"/>
    <p:sldId id="263" r:id="rId10"/>
    <p:sldId id="264" r:id="rId11"/>
    <p:sldId id="265"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VUZ DUMAN" initials="YD" lastIdx="1" clrIdx="0">
    <p:extLst>
      <p:ext uri="{19B8F6BF-5375-455C-9EA6-DF929625EA0E}">
        <p15:presenceInfo xmlns:p15="http://schemas.microsoft.com/office/powerpoint/2012/main" userId="YAVUZ DU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6AA791-7039-49A7-B928-A2693B9A218B}" type="datetimeFigureOut">
              <a:rPr lang="tr-TR" smtClean="0"/>
              <a:t>28.05.2026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2A0E8D-3749-475B-83CB-C85E7BF8CAB9}" type="slidenum">
              <a:rPr lang="tr-TR" smtClean="0"/>
              <a:t>‹#›</a:t>
            </a:fld>
            <a:endParaRPr lang="tr-TR"/>
          </a:p>
        </p:txBody>
      </p:sp>
    </p:spTree>
    <p:extLst>
      <p:ext uri="{BB962C8B-B14F-4D97-AF65-F5344CB8AC3E}">
        <p14:creationId xmlns:p14="http://schemas.microsoft.com/office/powerpoint/2010/main" val="2969582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DF361E7F-2FFF-46C0-BEBA-BDE3CB7EECD1}" type="datetimeFigureOut">
              <a:rPr lang="tr-TR" smtClean="0"/>
              <a:t>28.05.2026</a:t>
            </a:fld>
            <a:endParaRPr lang="tr-TR"/>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tr-T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ADC2115-1543-43F2-8AB5-29D3B349EDB5}"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7457767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F361E7F-2FFF-46C0-BEBA-BDE3CB7EECD1}" type="datetimeFigureOut">
              <a:rPr lang="tr-TR" smtClean="0"/>
              <a:t>28.05.2026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2837553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F361E7F-2FFF-46C0-BEBA-BDE3CB7EECD1}" type="datetimeFigureOut">
              <a:rPr lang="tr-TR" smtClean="0"/>
              <a:t>28.05.2026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ADC2115-1543-43F2-8AB5-29D3B349EDB5}" type="slidenum">
              <a:rPr lang="tr-TR" smtClean="0"/>
              <a:t>‹#›</a:t>
            </a:fld>
            <a:endParaRPr lang="tr-TR"/>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48344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F361E7F-2FFF-46C0-BEBA-BDE3CB7EECD1}" type="datetimeFigureOut">
              <a:rPr lang="tr-TR" smtClean="0"/>
              <a:t>28.05.2026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606188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tr-TR"/>
              <a:t>Asıl metin stillerini düzenlemek için tıklayın</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F361E7F-2FFF-46C0-BEBA-BDE3CB7EECD1}" type="datetimeFigureOut">
              <a:rPr lang="tr-TR" smtClean="0"/>
              <a:t>28.05.2026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216607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F361E7F-2FFF-46C0-BEBA-BDE3CB7EECD1}" type="datetimeFigureOut">
              <a:rPr lang="tr-TR" smtClean="0"/>
              <a:t>28.05.2026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111032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361E7F-2FFF-46C0-BEBA-BDE3CB7EECD1}" type="datetimeFigureOut">
              <a:rPr lang="tr-TR" smtClean="0"/>
              <a:t>28.05.2026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175400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tr-TR"/>
              <a:t>Asıl başlık stilini düzenlemek için tıklayın</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F361E7F-2FFF-46C0-BEBA-BDE3CB7EECD1}" type="datetimeFigureOut">
              <a:rPr lang="tr-TR" smtClean="0"/>
              <a:t>28.05.2026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1682134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F361E7F-2FFF-46C0-BEBA-BDE3CB7EECD1}" type="datetimeFigureOut">
              <a:rPr lang="tr-TR" smtClean="0"/>
              <a:t>28.05.2026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393295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F361E7F-2FFF-46C0-BEBA-BDE3CB7EECD1}" type="datetimeFigureOut">
              <a:rPr lang="tr-TR" smtClean="0"/>
              <a:t>28.05.2026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770928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F361E7F-2FFF-46C0-BEBA-BDE3CB7EECD1}" type="datetimeFigureOut">
              <a:rPr lang="tr-TR" smtClean="0"/>
              <a:t>28.05.2026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ADC2115-1543-43F2-8AB5-29D3B349EDB5}" type="slidenum">
              <a:rPr lang="tr-TR" smtClean="0"/>
              <a:t>‹#›</a:t>
            </a:fld>
            <a:endParaRPr lang="tr-TR"/>
          </a:p>
        </p:txBody>
      </p:sp>
    </p:spTree>
    <p:extLst>
      <p:ext uri="{BB962C8B-B14F-4D97-AF65-F5344CB8AC3E}">
        <p14:creationId xmlns:p14="http://schemas.microsoft.com/office/powerpoint/2010/main" val="2660812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DF361E7F-2FFF-46C0-BEBA-BDE3CB7EECD1}" type="datetimeFigureOut">
              <a:rPr lang="tr-TR" smtClean="0"/>
              <a:t>28.05.2026</a:t>
            </a:fld>
            <a:endParaRPr lang="tr-T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tr-T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ADC2115-1543-43F2-8AB5-29D3B349EDB5}" type="slidenum">
              <a:rPr lang="tr-TR" smtClean="0"/>
              <a:t>‹#›</a:t>
            </a:fld>
            <a:endParaRPr lang="tr-TR"/>
          </a:p>
        </p:txBody>
      </p:sp>
    </p:spTree>
    <p:extLst>
      <p:ext uri="{BB962C8B-B14F-4D97-AF65-F5344CB8AC3E}">
        <p14:creationId xmlns:p14="http://schemas.microsoft.com/office/powerpoint/2010/main" val="231243945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emini.google.com/app?hl=tr" TargetMode="External"/><Relationship Id="rId2" Type="http://schemas.openxmlformats.org/officeDocument/2006/relationships/hyperlink" Target="https://tr.pinterest.com/" TargetMode="External"/><Relationship Id="rId1" Type="http://schemas.openxmlformats.org/officeDocument/2006/relationships/slideLayout" Target="../slideLayouts/slideLayout2.xml"/><Relationship Id="rId6" Type="http://schemas.openxmlformats.org/officeDocument/2006/relationships/hyperlink" Target="https://atakavuncu.medium.com/yaz%C4%B1l%C4%B1m-geli%C5%9Ftirme-ya%C5%9Fam-d%C3%B6ng%C3%BCs%C3%BC-ve-modelleri-f4738b5cfcc1" TargetMode="External"/><Relationship Id="rId5" Type="http://schemas.openxmlformats.org/officeDocument/2006/relationships/hyperlink" Target="https://learn.microsoft.com/tr-tr/dotnet/csharp/" TargetMode="External"/><Relationship Id="rId4" Type="http://schemas.openxmlformats.org/officeDocument/2006/relationships/hyperlink" Target="https://unity.com/" TargetMode="External"/></Relationships>
</file>

<file path=ppt/slides/_rels/slide13.xml.rels><?xml version="1.0" encoding="UTF-8" standalone="yes"?>
<Relationships xmlns="http://schemas.openxmlformats.org/package/2006/relationships"><Relationship Id="rId2" Type="http://schemas.openxmlformats.org/officeDocument/2006/relationships/hyperlink" Target="mailto:dumanmelike617@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Resim 8">
            <a:extLst>
              <a:ext uri="{FF2B5EF4-FFF2-40B4-BE49-F238E27FC236}">
                <a16:creationId xmlns:a16="http://schemas.microsoft.com/office/drawing/2014/main" id="{6F5D016F-4545-807B-EA58-11AC3FEB1AC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45000"/>
                    </a14:imgEffect>
                    <a14:imgEffect>
                      <a14:brightnessContrast bright="1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Başlık 5">
            <a:extLst>
              <a:ext uri="{FF2B5EF4-FFF2-40B4-BE49-F238E27FC236}">
                <a16:creationId xmlns:a16="http://schemas.microsoft.com/office/drawing/2014/main" id="{D50B3D9E-DAC9-A73A-66AE-6DF90EFECAEA}"/>
              </a:ext>
            </a:extLst>
          </p:cNvPr>
          <p:cNvSpPr>
            <a:spLocks noGrp="1"/>
          </p:cNvSpPr>
          <p:nvPr>
            <p:ph type="ctrTitle"/>
          </p:nvPr>
        </p:nvSpPr>
        <p:spPr>
          <a:xfrm>
            <a:off x="1524000" y="703385"/>
            <a:ext cx="9144000" cy="1364566"/>
          </a:xfrm>
        </p:spPr>
        <p:txBody>
          <a:bodyPr>
            <a:normAutofit fontScale="90000"/>
          </a:bodyPr>
          <a:lstStyle/>
          <a:p>
            <a:r>
              <a:rPr lang="tr-TR" dirty="0">
                <a:solidFill>
                  <a:schemeClr val="accent5">
                    <a:lumMod val="60000"/>
                    <a:lumOff val="40000"/>
                  </a:schemeClr>
                </a:solidFill>
              </a:rPr>
              <a:t>CUBE</a:t>
            </a:r>
            <a:r>
              <a:rPr lang="tr-TR" dirty="0"/>
              <a:t>  </a:t>
            </a:r>
            <a:r>
              <a:rPr lang="tr-TR" dirty="0">
                <a:solidFill>
                  <a:schemeClr val="accent5">
                    <a:lumMod val="60000"/>
                    <a:lumOff val="40000"/>
                  </a:schemeClr>
                </a:solidFill>
              </a:rPr>
              <a:t>JUMP</a:t>
            </a:r>
            <a:br>
              <a:rPr lang="tr-TR" dirty="0"/>
            </a:br>
            <a:endParaRPr lang="tr-TR" sz="2700" dirty="0">
              <a:solidFill>
                <a:schemeClr val="accent4">
                  <a:lumMod val="20000"/>
                  <a:lumOff val="80000"/>
                </a:schemeClr>
              </a:solidFill>
            </a:endParaRPr>
          </a:p>
        </p:txBody>
      </p:sp>
      <p:sp>
        <p:nvSpPr>
          <p:cNvPr id="7" name="Alt Başlık 6">
            <a:extLst>
              <a:ext uri="{FF2B5EF4-FFF2-40B4-BE49-F238E27FC236}">
                <a16:creationId xmlns:a16="http://schemas.microsoft.com/office/drawing/2014/main" id="{2D7A080C-6B1B-A160-ECAF-29D3C1F91723}"/>
              </a:ext>
            </a:extLst>
          </p:cNvPr>
          <p:cNvSpPr>
            <a:spLocks noGrp="1"/>
          </p:cNvSpPr>
          <p:nvPr>
            <p:ph type="subTitle" idx="1"/>
          </p:nvPr>
        </p:nvSpPr>
        <p:spPr>
          <a:xfrm>
            <a:off x="1524000" y="3024554"/>
            <a:ext cx="9144000" cy="2233246"/>
          </a:xfrm>
        </p:spPr>
        <p:txBody>
          <a:bodyPr/>
          <a:lstStyle/>
          <a:p>
            <a:pPr algn="l"/>
            <a:r>
              <a:rPr lang="tr-TR" dirty="0">
                <a:solidFill>
                  <a:schemeClr val="bg1"/>
                </a:solidFill>
              </a:rPr>
              <a:t>Hazırlayan : Melike Duman</a:t>
            </a:r>
          </a:p>
          <a:p>
            <a:pPr algn="l"/>
            <a:r>
              <a:rPr lang="tr-TR" dirty="0">
                <a:solidFill>
                  <a:schemeClr val="bg1"/>
                </a:solidFill>
              </a:rPr>
              <a:t>Öğrenci No:262484053</a:t>
            </a:r>
          </a:p>
          <a:p>
            <a:pPr algn="l"/>
            <a:endParaRPr lang="tr-TR" dirty="0"/>
          </a:p>
          <a:p>
            <a:pPr algn="l"/>
            <a:endParaRPr lang="tr-TR" dirty="0"/>
          </a:p>
        </p:txBody>
      </p:sp>
    </p:spTree>
    <p:extLst>
      <p:ext uri="{BB962C8B-B14F-4D97-AF65-F5344CB8AC3E}">
        <p14:creationId xmlns:p14="http://schemas.microsoft.com/office/powerpoint/2010/main" val="1950515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CC506E-D8BC-9645-7698-409D6C9DBCF7}"/>
              </a:ext>
            </a:extLst>
          </p:cNvPr>
          <p:cNvSpPr>
            <a:spLocks noGrp="1"/>
          </p:cNvSpPr>
          <p:nvPr>
            <p:ph type="title"/>
          </p:nvPr>
        </p:nvSpPr>
        <p:spPr>
          <a:xfrm>
            <a:off x="584982" y="225083"/>
            <a:ext cx="10768818" cy="970671"/>
          </a:xfrm>
        </p:spPr>
        <p:txBody>
          <a:bodyPr>
            <a:normAutofit/>
          </a:bodyPr>
          <a:lstStyle/>
          <a:p>
            <a:r>
              <a:rPr lang="tr-TR" sz="3000" dirty="0">
                <a:solidFill>
                  <a:srgbClr val="FF0000"/>
                </a:solidFill>
              </a:rPr>
              <a:t>TANIM</a:t>
            </a:r>
          </a:p>
        </p:txBody>
      </p:sp>
      <p:sp>
        <p:nvSpPr>
          <p:cNvPr id="3" name="İçerik Yer Tutucusu 2">
            <a:extLst>
              <a:ext uri="{FF2B5EF4-FFF2-40B4-BE49-F238E27FC236}">
                <a16:creationId xmlns:a16="http://schemas.microsoft.com/office/drawing/2014/main" id="{9E97A825-50C7-0F20-8CA0-1225E913F00C}"/>
              </a:ext>
            </a:extLst>
          </p:cNvPr>
          <p:cNvSpPr>
            <a:spLocks noGrp="1"/>
          </p:cNvSpPr>
          <p:nvPr>
            <p:ph idx="1"/>
          </p:nvPr>
        </p:nvSpPr>
        <p:spPr>
          <a:xfrm>
            <a:off x="584982" y="1434905"/>
            <a:ext cx="10515600" cy="4812397"/>
          </a:xfrm>
        </p:spPr>
        <p:txBody>
          <a:bodyPr>
            <a:normAutofit/>
          </a:bodyPr>
          <a:lstStyle/>
          <a:p>
            <a:pPr marL="0" indent="0">
              <a:buNone/>
            </a:pPr>
            <a:r>
              <a:rPr lang="tr-TR" sz="2000" dirty="0" err="1">
                <a:latin typeface="Times New Roman" panose="02020603050405020304" pitchFamily="18" charset="0"/>
                <a:cs typeface="Times New Roman" panose="02020603050405020304" pitchFamily="18" charset="0"/>
              </a:rPr>
              <a:t>Cube</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Jump</a:t>
            </a:r>
            <a:r>
              <a:rPr lang="tr-TR" sz="2000" dirty="0">
                <a:latin typeface="Times New Roman" panose="02020603050405020304" pitchFamily="18" charset="0"/>
                <a:cs typeface="Times New Roman" panose="02020603050405020304" pitchFamily="18" charset="0"/>
              </a:rPr>
              <a:t> PC platformu için tasarlanmış retro-neon estetiğine sahip minimalist bir sonsuz koşu(</a:t>
            </a:r>
            <a:r>
              <a:rPr lang="tr-TR" sz="2000" dirty="0" err="1">
                <a:latin typeface="Times New Roman" panose="02020603050405020304" pitchFamily="18" charset="0"/>
                <a:cs typeface="Times New Roman" panose="02020603050405020304" pitchFamily="18" charset="0"/>
              </a:rPr>
              <a:t>Endless</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Runner</a:t>
            </a:r>
            <a:r>
              <a:rPr lang="tr-TR" sz="2000" dirty="0">
                <a:latin typeface="Times New Roman" panose="02020603050405020304" pitchFamily="18" charset="0"/>
                <a:cs typeface="Times New Roman" panose="02020603050405020304" pitchFamily="18" charset="0"/>
              </a:rPr>
              <a:t> ) oyunudur.</a:t>
            </a:r>
          </a:p>
          <a:p>
            <a:pPr marL="0" indent="0">
              <a:buNone/>
            </a:pPr>
            <a:r>
              <a:rPr lang="tr-TR" sz="2000" dirty="0">
                <a:latin typeface="Times New Roman" panose="02020603050405020304" pitchFamily="18" charset="0"/>
                <a:cs typeface="Times New Roman" panose="02020603050405020304" pitchFamily="18" charset="0"/>
              </a:rPr>
              <a:t>1) </a:t>
            </a:r>
            <a:r>
              <a:rPr lang="tr-TR" sz="2000" dirty="0">
                <a:solidFill>
                  <a:schemeClr val="accent1">
                    <a:lumMod val="75000"/>
                  </a:schemeClr>
                </a:solidFill>
                <a:latin typeface="Times New Roman" panose="02020603050405020304" pitchFamily="18" charset="0"/>
                <a:cs typeface="Times New Roman" panose="02020603050405020304" pitchFamily="18" charset="0"/>
              </a:rPr>
              <a:t>Temel Oynanış ve Amacı</a:t>
            </a:r>
          </a:p>
          <a:p>
            <a:pPr marL="0" indent="0">
              <a:buNone/>
            </a:pPr>
            <a:r>
              <a:rPr lang="tr-TR" sz="2000" dirty="0">
                <a:latin typeface="Times New Roman" panose="02020603050405020304" pitchFamily="18" charset="0"/>
                <a:cs typeface="Times New Roman" panose="02020603050405020304" pitchFamily="18" charset="0"/>
              </a:rPr>
              <a:t>Oyunun temel amacı ,sürekli hızlanan bir oyun alanında kontrol ettiği küp karakteriyle engellerin üzerinden zıplayarak en yüksek </a:t>
            </a:r>
            <a:r>
              <a:rPr lang="tr-TR" sz="2000" dirty="0" err="1">
                <a:latin typeface="Times New Roman" panose="02020603050405020304" pitchFamily="18" charset="0"/>
                <a:cs typeface="Times New Roman" panose="02020603050405020304" pitchFamily="18" charset="0"/>
              </a:rPr>
              <a:t>scora</a:t>
            </a:r>
            <a:r>
              <a:rPr lang="tr-TR" sz="2000" dirty="0">
                <a:latin typeface="Times New Roman" panose="02020603050405020304" pitchFamily="18" charset="0"/>
                <a:cs typeface="Times New Roman" panose="02020603050405020304" pitchFamily="18" charset="0"/>
              </a:rPr>
              <a:t> ulaşmaktır.</a:t>
            </a:r>
          </a:p>
          <a:p>
            <a:pPr marL="0" indent="0">
              <a:buNone/>
            </a:pPr>
            <a:r>
              <a:rPr lang="tr-TR" sz="2000" dirty="0">
                <a:latin typeface="Times New Roman" panose="02020603050405020304" pitchFamily="18" charset="0"/>
                <a:cs typeface="Times New Roman" panose="02020603050405020304" pitchFamily="18" charset="0"/>
              </a:rPr>
              <a:t>2) </a:t>
            </a:r>
            <a:r>
              <a:rPr lang="tr-TR" sz="2000" dirty="0">
                <a:solidFill>
                  <a:schemeClr val="accent1">
                    <a:lumMod val="50000"/>
                  </a:schemeClr>
                </a:solidFill>
                <a:latin typeface="Times New Roman" panose="02020603050405020304" pitchFamily="18" charset="0"/>
                <a:cs typeface="Times New Roman" panose="02020603050405020304" pitchFamily="18" charset="0"/>
              </a:rPr>
              <a:t>Neden Bu Oyun ?</a:t>
            </a:r>
          </a:p>
          <a:p>
            <a:pPr marL="0" indent="0">
              <a:buNone/>
            </a:pPr>
            <a:r>
              <a:rPr lang="tr-TR" sz="2000" dirty="0">
                <a:latin typeface="Times New Roman" panose="02020603050405020304" pitchFamily="18" charset="0"/>
                <a:cs typeface="Times New Roman" panose="02020603050405020304" pitchFamily="18" charset="0"/>
              </a:rPr>
              <a:t>Oyunum ‘hemen oyna ve çık’ tarzında tasarlandı . Amacım, oyuncuya 5 dakikalık kısa molalarında </a:t>
            </a:r>
          </a:p>
          <a:p>
            <a:pPr marL="0" indent="0">
              <a:buNone/>
            </a:pPr>
            <a:r>
              <a:rPr lang="tr-TR" sz="2000" dirty="0">
                <a:latin typeface="Times New Roman" panose="02020603050405020304" pitchFamily="18" charset="0"/>
                <a:cs typeface="Times New Roman" panose="02020603050405020304" pitchFamily="18" charset="0"/>
              </a:rPr>
              <a:t>Bilgisayarından tarayıcıyı açıp anında oynayabileceği, indirme gerektirmeyen ,refleks odaklı sürükleyici bir oyun </a:t>
            </a:r>
            <a:r>
              <a:rPr lang="tr-TR" sz="2000" dirty="0" err="1">
                <a:latin typeface="Times New Roman" panose="02020603050405020304" pitchFamily="18" charset="0"/>
                <a:cs typeface="Times New Roman" panose="02020603050405020304" pitchFamily="18" charset="0"/>
              </a:rPr>
              <a:t>sunmanktır</a:t>
            </a:r>
            <a:r>
              <a:rPr lang="tr-T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26532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65E6CC-0D4D-4792-2BAF-4E390F9EA4AC}"/>
              </a:ext>
            </a:extLst>
          </p:cNvPr>
          <p:cNvSpPr>
            <a:spLocks noGrp="1"/>
          </p:cNvSpPr>
          <p:nvPr>
            <p:ph type="title"/>
          </p:nvPr>
        </p:nvSpPr>
        <p:spPr>
          <a:xfrm>
            <a:off x="642894" y="95275"/>
            <a:ext cx="9692640" cy="1325562"/>
          </a:xfrm>
        </p:spPr>
        <p:txBody>
          <a:bodyPr>
            <a:normAutofit/>
          </a:bodyPr>
          <a:lstStyle/>
          <a:p>
            <a:r>
              <a:rPr lang="tr-TR" sz="3000" dirty="0">
                <a:solidFill>
                  <a:srgbClr val="FF0000"/>
                </a:solidFill>
              </a:rPr>
              <a:t>PLANLAMA</a:t>
            </a:r>
          </a:p>
        </p:txBody>
      </p:sp>
      <p:sp>
        <p:nvSpPr>
          <p:cNvPr id="4" name="İçerik Yer Tutucusu 3">
            <a:extLst>
              <a:ext uri="{FF2B5EF4-FFF2-40B4-BE49-F238E27FC236}">
                <a16:creationId xmlns:a16="http://schemas.microsoft.com/office/drawing/2014/main" id="{A8383655-4EC5-8308-522A-920BB2AB23AF}"/>
              </a:ext>
            </a:extLst>
          </p:cNvPr>
          <p:cNvSpPr>
            <a:spLocks noGrp="1"/>
          </p:cNvSpPr>
          <p:nvPr>
            <p:ph sz="half" idx="1"/>
          </p:nvPr>
        </p:nvSpPr>
        <p:spPr>
          <a:xfrm>
            <a:off x="526524" y="1477108"/>
            <a:ext cx="5181600" cy="4756126"/>
          </a:xfrm>
        </p:spPr>
        <p:txBody>
          <a:bodyPr>
            <a:normAutofit lnSpcReduction="10000"/>
          </a:bodyPr>
          <a:lstStyle/>
          <a:p>
            <a:pPr marL="0" indent="0">
              <a:buNone/>
            </a:pPr>
            <a:r>
              <a:rPr lang="tr-TR" sz="2000" dirty="0" err="1">
                <a:latin typeface="Times New Roman" panose="02020603050405020304" pitchFamily="18" charset="0"/>
                <a:cs typeface="Times New Roman" panose="02020603050405020304" pitchFamily="18" charset="0"/>
              </a:rPr>
              <a:t>Cube</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Jump</a:t>
            </a:r>
            <a:r>
              <a:rPr lang="tr-TR" sz="2000" dirty="0">
                <a:latin typeface="Times New Roman" panose="02020603050405020304" pitchFamily="18" charset="0"/>
                <a:cs typeface="Times New Roman" panose="02020603050405020304" pitchFamily="18" charset="0"/>
              </a:rPr>
              <a:t> projesinin geliştirme sürecinde, oyunun yüksek performansla çalışması ve kararlı bir fizik deneyimi sunması amacıyla PC platformu tercih edilerek geliştirme aracı olarak </a:t>
            </a:r>
            <a:r>
              <a:rPr lang="tr-TR" sz="2000" dirty="0" err="1">
                <a:latin typeface="Times New Roman" panose="02020603050405020304" pitchFamily="18" charset="0"/>
                <a:cs typeface="Times New Roman" panose="02020603050405020304" pitchFamily="18" charset="0"/>
              </a:rPr>
              <a:t>Unity</a:t>
            </a:r>
            <a:r>
              <a:rPr lang="tr-TR" sz="2000" dirty="0">
                <a:latin typeface="Times New Roman" panose="02020603050405020304" pitchFamily="18" charset="0"/>
                <a:cs typeface="Times New Roman" panose="02020603050405020304" pitchFamily="18" charset="0"/>
              </a:rPr>
              <a:t> oyun motoru ve C# programlama dili kullanılmıştır. Proje kapsamında süreç; ana menü, skor tablosu ve kamera takibi gibi görsel unsurların kurgulandığı arayüz tasarımı ile karakter yerçekimi fizikleri, dinamik engel üretme  ve çarpışma kontrol algoritmalarının yazıldığı oyun mekanikleri olmak üzere iki ana aşamada yürütülmüştür. Tasarım ve kodlama süreçlerinin tamamlanmasının ardından, oyunun farklı bilgisayarlarda kararlı çalışmasını doğrulamak üzere </a:t>
            </a:r>
            <a:r>
              <a:rPr lang="tr-TR" sz="2000" dirty="0" err="1">
                <a:latin typeface="Times New Roman" panose="02020603050405020304" pitchFamily="18" charset="0"/>
                <a:cs typeface="Times New Roman" panose="02020603050405020304" pitchFamily="18" charset="0"/>
              </a:rPr>
              <a:t>Unity</a:t>
            </a:r>
            <a:r>
              <a:rPr lang="tr-TR" sz="2000" dirty="0">
                <a:latin typeface="Times New Roman" panose="02020603050405020304" pitchFamily="18" charset="0"/>
                <a:cs typeface="Times New Roman" panose="02020603050405020304" pitchFamily="18" charset="0"/>
              </a:rPr>
              <a:t> üzerinde ve PC çıktıları  üzerinden detaylı performans ve kullanıcı deneyimi testleri gerçekleştirilmiştir.</a:t>
            </a:r>
          </a:p>
        </p:txBody>
      </p:sp>
      <p:pic>
        <p:nvPicPr>
          <p:cNvPr id="7" name="İçerik Yer Tutucusu 6">
            <a:extLst>
              <a:ext uri="{FF2B5EF4-FFF2-40B4-BE49-F238E27FC236}">
                <a16:creationId xmlns:a16="http://schemas.microsoft.com/office/drawing/2014/main" id="{C629FB7B-0FD7-DF5B-A341-00E6AFD92E9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08124" y="1477108"/>
            <a:ext cx="5493276" cy="4332849"/>
          </a:xfrm>
        </p:spPr>
      </p:pic>
      <p:sp>
        <p:nvSpPr>
          <p:cNvPr id="8" name="Metin kutusu 7">
            <a:extLst>
              <a:ext uri="{FF2B5EF4-FFF2-40B4-BE49-F238E27FC236}">
                <a16:creationId xmlns:a16="http://schemas.microsoft.com/office/drawing/2014/main" id="{B6FC948E-67FE-3B6A-BF79-9057D4EA930D}"/>
              </a:ext>
            </a:extLst>
          </p:cNvPr>
          <p:cNvSpPr txBox="1"/>
          <p:nvPr/>
        </p:nvSpPr>
        <p:spPr>
          <a:xfrm>
            <a:off x="5828282" y="5809957"/>
            <a:ext cx="5181600" cy="400110"/>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Tablo 1- Haftalık Plan</a:t>
            </a:r>
          </a:p>
        </p:txBody>
      </p:sp>
    </p:spTree>
    <p:extLst>
      <p:ext uri="{BB962C8B-B14F-4D97-AF65-F5344CB8AC3E}">
        <p14:creationId xmlns:p14="http://schemas.microsoft.com/office/powerpoint/2010/main" val="3927990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Resim 11">
            <a:extLst>
              <a:ext uri="{FF2B5EF4-FFF2-40B4-BE49-F238E27FC236}">
                <a16:creationId xmlns:a16="http://schemas.microsoft.com/office/drawing/2014/main" id="{8651EA1D-FD5F-4835-CAD3-F613D9C38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9813" y="1378201"/>
            <a:ext cx="4919003" cy="4101597"/>
          </a:xfrm>
          <a:prstGeom prst="rect">
            <a:avLst/>
          </a:prstGeom>
        </p:spPr>
      </p:pic>
      <p:sp>
        <p:nvSpPr>
          <p:cNvPr id="5" name="Başlık 4">
            <a:extLst>
              <a:ext uri="{FF2B5EF4-FFF2-40B4-BE49-F238E27FC236}">
                <a16:creationId xmlns:a16="http://schemas.microsoft.com/office/drawing/2014/main" id="{0C077153-6F1E-2021-D03B-C62E3688482F}"/>
              </a:ext>
            </a:extLst>
          </p:cNvPr>
          <p:cNvSpPr>
            <a:spLocks noGrp="1"/>
          </p:cNvSpPr>
          <p:nvPr>
            <p:ph type="title"/>
          </p:nvPr>
        </p:nvSpPr>
        <p:spPr>
          <a:xfrm>
            <a:off x="168812" y="365760"/>
            <a:ext cx="10785700" cy="815926"/>
          </a:xfrm>
        </p:spPr>
        <p:txBody>
          <a:bodyPr>
            <a:normAutofit/>
          </a:bodyPr>
          <a:lstStyle/>
          <a:p>
            <a:pPr algn="l"/>
            <a:r>
              <a:rPr lang="tr-TR" sz="3000" dirty="0">
                <a:solidFill>
                  <a:srgbClr val="FF0000"/>
                </a:solidFill>
              </a:rPr>
              <a:t>ANALİZ</a:t>
            </a:r>
          </a:p>
        </p:txBody>
      </p:sp>
      <p:sp>
        <p:nvSpPr>
          <p:cNvPr id="6" name="Alt Başlık 5">
            <a:extLst>
              <a:ext uri="{FF2B5EF4-FFF2-40B4-BE49-F238E27FC236}">
                <a16:creationId xmlns:a16="http://schemas.microsoft.com/office/drawing/2014/main" id="{50E0AA39-B7CB-D0D2-52F4-34F3BD6BC968}"/>
              </a:ext>
            </a:extLst>
          </p:cNvPr>
          <p:cNvSpPr>
            <a:spLocks noGrp="1"/>
          </p:cNvSpPr>
          <p:nvPr>
            <p:ph type="subTitle" idx="4294967295"/>
          </p:nvPr>
        </p:nvSpPr>
        <p:spPr>
          <a:xfrm>
            <a:off x="0" y="1736725"/>
            <a:ext cx="6119813" cy="4473575"/>
          </a:xfrm>
        </p:spPr>
        <p:txBody>
          <a:bodyPr>
            <a:normAutofit/>
          </a:bodyPr>
          <a:lstStyle/>
          <a:p>
            <a:pPr algn="l"/>
            <a:r>
              <a:rPr lang="tr-TR" sz="2000" dirty="0" err="1">
                <a:latin typeface="Times New Roman" panose="02020603050405020304" pitchFamily="18" charset="0"/>
                <a:cs typeface="Times New Roman" panose="02020603050405020304" pitchFamily="18" charset="0"/>
              </a:rPr>
              <a:t>Cube</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Jump</a:t>
            </a:r>
            <a:r>
              <a:rPr lang="tr-TR" sz="2000" dirty="0">
                <a:latin typeface="Times New Roman" panose="02020603050405020304" pitchFamily="18" charset="0"/>
                <a:cs typeface="Times New Roman" panose="02020603050405020304" pitchFamily="18" charset="0"/>
              </a:rPr>
              <a:t> projesi, öğrencilerin internet erişimi kısıtlandığında Chrome tarayıcısının dinozor oyununa gösterdikleri yoğun ilgiden ilham alınarak; reaksiyon ve odaklanma becerilerini geliştirecek daha modern bir alternatif sunma amacıyla geliştirilmiştir. Bu doğrultuda, oyunun her bilgisayarda sıfır gecikmeyle çalışabilmesi için </a:t>
            </a:r>
            <a:r>
              <a:rPr lang="tr-TR" sz="2000" dirty="0" err="1">
                <a:latin typeface="Times New Roman" panose="02020603050405020304" pitchFamily="18" charset="0"/>
                <a:cs typeface="Times New Roman" panose="02020603050405020304" pitchFamily="18" charset="0"/>
              </a:rPr>
              <a:t>Unity</a:t>
            </a:r>
            <a:r>
              <a:rPr lang="tr-TR" sz="2000" dirty="0">
                <a:latin typeface="Times New Roman" panose="02020603050405020304" pitchFamily="18" charset="0"/>
                <a:cs typeface="Times New Roman" panose="02020603050405020304" pitchFamily="18" charset="0"/>
              </a:rPr>
              <a:t> oyun motoru ve C# dili tercih edilerek kararlı bir zıplama mekaniği tasarlanmıştır. Klasik sonsuz koşu yapısı, öğrencilerin görsel ilgisini canlı tutacak retro-neon estetiği ve dinamik engel sistemleriyle zenginleştirilerek akıcı bir kullanıcı deneyimi hedeflenmiştir.</a:t>
            </a:r>
          </a:p>
        </p:txBody>
      </p:sp>
      <p:sp>
        <p:nvSpPr>
          <p:cNvPr id="7" name="Metin kutusu 6">
            <a:extLst>
              <a:ext uri="{FF2B5EF4-FFF2-40B4-BE49-F238E27FC236}">
                <a16:creationId xmlns:a16="http://schemas.microsoft.com/office/drawing/2014/main" id="{247D4EE5-0E28-8A75-CA0D-D098C4C99D3E}"/>
              </a:ext>
            </a:extLst>
          </p:cNvPr>
          <p:cNvSpPr txBox="1"/>
          <p:nvPr/>
        </p:nvSpPr>
        <p:spPr>
          <a:xfrm>
            <a:off x="6119812" y="5479798"/>
            <a:ext cx="4919003" cy="400110"/>
          </a:xfrm>
          <a:prstGeom prst="rect">
            <a:avLst/>
          </a:prstGeom>
          <a:noFill/>
        </p:spPr>
        <p:txBody>
          <a:bodyPr wrap="square" rtlCol="0">
            <a:spAutoFit/>
          </a:bodyPr>
          <a:lstStyle/>
          <a:p>
            <a:r>
              <a:rPr lang="tr-TR" sz="2000" dirty="0">
                <a:latin typeface="Times New Roman" panose="02020603050405020304" pitchFamily="18" charset="0"/>
                <a:cs typeface="Times New Roman" panose="02020603050405020304" pitchFamily="18" charset="0"/>
              </a:rPr>
              <a:t>Resim 1- Oyundan Bir Sahne</a:t>
            </a:r>
          </a:p>
        </p:txBody>
      </p:sp>
    </p:spTree>
    <p:extLst>
      <p:ext uri="{BB962C8B-B14F-4D97-AF65-F5344CB8AC3E}">
        <p14:creationId xmlns:p14="http://schemas.microsoft.com/office/powerpoint/2010/main" val="142646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AE84D0-FA71-5399-8BFF-4D70DB9D4DAC}"/>
              </a:ext>
            </a:extLst>
          </p:cNvPr>
          <p:cNvSpPr>
            <a:spLocks noGrp="1"/>
          </p:cNvSpPr>
          <p:nvPr>
            <p:ph type="title"/>
          </p:nvPr>
        </p:nvSpPr>
        <p:spPr>
          <a:xfrm>
            <a:off x="838200" y="365125"/>
            <a:ext cx="10515600" cy="1027577"/>
          </a:xfrm>
        </p:spPr>
        <p:txBody>
          <a:bodyPr>
            <a:normAutofit/>
          </a:bodyPr>
          <a:lstStyle/>
          <a:p>
            <a:r>
              <a:rPr lang="tr-TR" sz="3000" dirty="0">
                <a:solidFill>
                  <a:srgbClr val="FF0000"/>
                </a:solidFill>
              </a:rPr>
              <a:t>TASARIM</a:t>
            </a:r>
            <a:endParaRPr lang="tr-TR" sz="3000" dirty="0"/>
          </a:p>
        </p:txBody>
      </p:sp>
      <p:sp>
        <p:nvSpPr>
          <p:cNvPr id="3" name="İçerik Yer Tutucusu 2">
            <a:extLst>
              <a:ext uri="{FF2B5EF4-FFF2-40B4-BE49-F238E27FC236}">
                <a16:creationId xmlns:a16="http://schemas.microsoft.com/office/drawing/2014/main" id="{FB3C33FB-1F74-8904-D85E-518B9E7601C2}"/>
              </a:ext>
            </a:extLst>
          </p:cNvPr>
          <p:cNvSpPr>
            <a:spLocks noGrp="1"/>
          </p:cNvSpPr>
          <p:nvPr>
            <p:ph idx="1"/>
          </p:nvPr>
        </p:nvSpPr>
        <p:spPr>
          <a:xfrm>
            <a:off x="838200" y="1603717"/>
            <a:ext cx="10515600" cy="4573246"/>
          </a:xfrm>
        </p:spPr>
        <p:txBody>
          <a:bodyPr>
            <a:normAutofit/>
          </a:bodyPr>
          <a:lstStyle/>
          <a:p>
            <a:pPr marL="0" indent="0">
              <a:buNone/>
            </a:pPr>
            <a:r>
              <a:rPr lang="tr-TR" sz="2000" dirty="0" err="1">
                <a:latin typeface="Times New Roman" panose="02020603050405020304" pitchFamily="18" charset="0"/>
                <a:cs typeface="Times New Roman" panose="02020603050405020304" pitchFamily="18" charset="0"/>
              </a:rPr>
              <a:t>Cube</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Jump</a:t>
            </a:r>
            <a:r>
              <a:rPr lang="tr-TR" sz="2000" dirty="0">
                <a:latin typeface="Times New Roman" panose="02020603050405020304" pitchFamily="18" charset="0"/>
                <a:cs typeface="Times New Roman" panose="02020603050405020304" pitchFamily="18" charset="0"/>
              </a:rPr>
              <a:t> projesinin tasarım sürecinde, kullanıcı deneyimini (UX) sistematik hale getirmek amacıyla tüm oyun yapısı kâğıt prototipler üzerinde önceden planlanmış ve oyun akışı birbirine bağlı üç temel bölüme ayrılmıştır. Bu doğrultuda oyuncu, sade tasarlanmış ana menüdeki 'Play' butonuna bastığında öncelikle farklı neon tasarımlara sahip küpler arasından kendi tarzını belirleyebileceği karakter seçim ekranına yönlendirilmektedir; karakter tercihini tamamladıktan sonra ise dinamik engellerden zıplayarak kaçtığı ve en yüksek skora ulaşmayı hedeflediği sonsuz koşu (</a:t>
            </a:r>
            <a:r>
              <a:rPr lang="tr-TR" sz="2000" dirty="0" err="1">
                <a:latin typeface="Times New Roman" panose="02020603050405020304" pitchFamily="18" charset="0"/>
                <a:cs typeface="Times New Roman" panose="02020603050405020304" pitchFamily="18" charset="0"/>
              </a:rPr>
              <a:t>endless</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runner</a:t>
            </a:r>
            <a:r>
              <a:rPr lang="tr-TR" sz="2000" dirty="0">
                <a:latin typeface="Times New Roman" panose="02020603050405020304" pitchFamily="18" charset="0"/>
                <a:cs typeface="Times New Roman" panose="02020603050405020304" pitchFamily="18" charset="0"/>
              </a:rPr>
              <a:t>) oyun alanına geçiş yapmaktadır. Geliştirme sürecinin henüz en başındayken kâğıt üzerinde çizilen bu sahneler ve geçiş şemaları, </a:t>
            </a:r>
            <a:r>
              <a:rPr lang="tr-TR" sz="2000" dirty="0" err="1">
                <a:latin typeface="Times New Roman" panose="02020603050405020304" pitchFamily="18" charset="0"/>
                <a:cs typeface="Times New Roman" panose="02020603050405020304" pitchFamily="18" charset="0"/>
              </a:rPr>
              <a:t>Unity</a:t>
            </a:r>
            <a:r>
              <a:rPr lang="tr-TR" sz="2000" dirty="0">
                <a:latin typeface="Times New Roman" panose="02020603050405020304" pitchFamily="18" charset="0"/>
                <a:cs typeface="Times New Roman" panose="02020603050405020304" pitchFamily="18" charset="0"/>
              </a:rPr>
              <a:t> ortamındaki kodlama aşamasında karşılaşılabilecek olası mantıksal arayüz hatalarının önüne geçilmesini sağlamıştır.</a:t>
            </a:r>
          </a:p>
        </p:txBody>
      </p:sp>
    </p:spTree>
    <p:extLst>
      <p:ext uri="{BB962C8B-B14F-4D97-AF65-F5344CB8AC3E}">
        <p14:creationId xmlns:p14="http://schemas.microsoft.com/office/powerpoint/2010/main" val="44017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262B62D-4B96-D10F-2E78-C8DFF87846A3}"/>
              </a:ext>
            </a:extLst>
          </p:cNvPr>
          <p:cNvSpPr>
            <a:spLocks noGrp="1"/>
          </p:cNvSpPr>
          <p:nvPr>
            <p:ph type="title"/>
          </p:nvPr>
        </p:nvSpPr>
        <p:spPr>
          <a:xfrm>
            <a:off x="407963" y="182880"/>
            <a:ext cx="10546549" cy="914400"/>
          </a:xfrm>
        </p:spPr>
        <p:txBody>
          <a:bodyPr>
            <a:noAutofit/>
          </a:bodyPr>
          <a:lstStyle/>
          <a:p>
            <a:r>
              <a:rPr lang="tr-TR" sz="3000" dirty="0">
                <a:solidFill>
                  <a:srgbClr val="FF0000"/>
                </a:solidFill>
              </a:rPr>
              <a:t>KULLANILAN SÜREÇ MODELİ</a:t>
            </a:r>
          </a:p>
        </p:txBody>
      </p:sp>
      <p:pic>
        <p:nvPicPr>
          <p:cNvPr id="4" name="İçerik Yer Tutucusu 3">
            <a:extLst>
              <a:ext uri="{FF2B5EF4-FFF2-40B4-BE49-F238E27FC236}">
                <a16:creationId xmlns:a16="http://schemas.microsoft.com/office/drawing/2014/main" id="{4CFC6DBE-F0E4-1BEC-B206-884BEF475C4E}"/>
              </a:ext>
            </a:extLst>
          </p:cNvPr>
          <p:cNvPicPr>
            <a:picLocks noGrp="1" noChangeAspect="1"/>
          </p:cNvPicPr>
          <p:nvPr>
            <p:ph idx="1"/>
          </p:nvPr>
        </p:nvPicPr>
        <p:blipFill>
          <a:blip r:embed="rId2"/>
          <a:stretch>
            <a:fillRect/>
          </a:stretch>
        </p:blipFill>
        <p:spPr>
          <a:xfrm>
            <a:off x="2255810" y="1350498"/>
            <a:ext cx="6243466" cy="4604556"/>
          </a:xfrm>
          <a:prstGeom prst="rect">
            <a:avLst/>
          </a:prstGeom>
        </p:spPr>
      </p:pic>
      <p:sp>
        <p:nvSpPr>
          <p:cNvPr id="5" name="Metin kutusu 4">
            <a:extLst>
              <a:ext uri="{FF2B5EF4-FFF2-40B4-BE49-F238E27FC236}">
                <a16:creationId xmlns:a16="http://schemas.microsoft.com/office/drawing/2014/main" id="{33C34ED9-AD26-D9AE-9E0E-70BB61AD756E}"/>
              </a:ext>
            </a:extLst>
          </p:cNvPr>
          <p:cNvSpPr txBox="1"/>
          <p:nvPr/>
        </p:nvSpPr>
        <p:spPr>
          <a:xfrm>
            <a:off x="2255810" y="5955054"/>
            <a:ext cx="6243466" cy="400110"/>
          </a:xfrm>
          <a:prstGeom prst="rect">
            <a:avLst/>
          </a:prstGeom>
          <a:noFill/>
        </p:spPr>
        <p:txBody>
          <a:bodyPr wrap="square" rtlCol="0">
            <a:spAutoFit/>
          </a:bodyPr>
          <a:lstStyle/>
          <a:p>
            <a:pPr algn="ctr"/>
            <a:r>
              <a:rPr lang="tr-TR" sz="2000" dirty="0">
                <a:latin typeface="Times New Roman" panose="02020603050405020304" pitchFamily="18" charset="0"/>
                <a:cs typeface="Times New Roman" panose="02020603050405020304" pitchFamily="18" charset="0"/>
              </a:rPr>
              <a:t>Resim 2-Arttırımsal Geliştirme Modeli</a:t>
            </a:r>
          </a:p>
        </p:txBody>
      </p:sp>
    </p:spTree>
    <p:extLst>
      <p:ext uri="{BB962C8B-B14F-4D97-AF65-F5344CB8AC3E}">
        <p14:creationId xmlns:p14="http://schemas.microsoft.com/office/powerpoint/2010/main" val="2956662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233376B-A513-F212-3805-B893F035D26D}"/>
              </a:ext>
            </a:extLst>
          </p:cNvPr>
          <p:cNvSpPr>
            <a:spLocks noGrp="1"/>
          </p:cNvSpPr>
          <p:nvPr>
            <p:ph type="title"/>
          </p:nvPr>
        </p:nvSpPr>
        <p:spPr>
          <a:xfrm>
            <a:off x="141018" y="0"/>
            <a:ext cx="10515600" cy="970671"/>
          </a:xfrm>
        </p:spPr>
        <p:txBody>
          <a:bodyPr>
            <a:normAutofit/>
          </a:bodyPr>
          <a:lstStyle/>
          <a:p>
            <a:r>
              <a:rPr lang="tr-TR" sz="3000" dirty="0">
                <a:solidFill>
                  <a:srgbClr val="FF0000"/>
                </a:solidFill>
                <a:cs typeface="Times New Roman" panose="02020603050405020304" pitchFamily="18" charset="0"/>
              </a:rPr>
              <a:t>KAĞIT PROTİPLER</a:t>
            </a:r>
          </a:p>
        </p:txBody>
      </p:sp>
      <p:pic>
        <p:nvPicPr>
          <p:cNvPr id="9" name="Resim 8">
            <a:extLst>
              <a:ext uri="{FF2B5EF4-FFF2-40B4-BE49-F238E27FC236}">
                <a16:creationId xmlns:a16="http://schemas.microsoft.com/office/drawing/2014/main" id="{444F8146-675F-F1F9-7286-9E38716BDD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04278" y="691736"/>
            <a:ext cx="3610556" cy="5219112"/>
          </a:xfrm>
          <a:prstGeom prst="rect">
            <a:avLst/>
          </a:prstGeom>
        </p:spPr>
      </p:pic>
      <p:pic>
        <p:nvPicPr>
          <p:cNvPr id="11" name="Resim 10">
            <a:extLst>
              <a:ext uri="{FF2B5EF4-FFF2-40B4-BE49-F238E27FC236}">
                <a16:creationId xmlns:a16="http://schemas.microsoft.com/office/drawing/2014/main" id="{9DE56C0F-DE02-98BF-FE6C-34906C6B5F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6311705" y="583125"/>
            <a:ext cx="3610557" cy="5436332"/>
          </a:xfrm>
          <a:prstGeom prst="rect">
            <a:avLst/>
          </a:prstGeom>
        </p:spPr>
      </p:pic>
      <p:sp>
        <p:nvSpPr>
          <p:cNvPr id="8" name="Metin kutusu 7">
            <a:extLst>
              <a:ext uri="{FF2B5EF4-FFF2-40B4-BE49-F238E27FC236}">
                <a16:creationId xmlns:a16="http://schemas.microsoft.com/office/drawing/2014/main" id="{348E498F-A584-23F4-D24F-3E2A81D183E6}"/>
              </a:ext>
            </a:extLst>
          </p:cNvPr>
          <p:cNvSpPr txBox="1"/>
          <p:nvPr/>
        </p:nvSpPr>
        <p:spPr>
          <a:xfrm>
            <a:off x="0" y="5099316"/>
            <a:ext cx="5219112" cy="400110"/>
          </a:xfrm>
          <a:prstGeom prst="rect">
            <a:avLst/>
          </a:prstGeom>
          <a:noFill/>
        </p:spPr>
        <p:txBody>
          <a:bodyPr wrap="square" rtlCol="0">
            <a:spAutoFit/>
          </a:bodyPr>
          <a:lstStyle/>
          <a:p>
            <a:pPr algn="ctr"/>
            <a:r>
              <a:rPr lang="tr-TR" sz="2000" dirty="0">
                <a:latin typeface="Times New Roman" panose="02020603050405020304" pitchFamily="18" charset="0"/>
                <a:cs typeface="Times New Roman" panose="02020603050405020304" pitchFamily="18" charset="0"/>
              </a:rPr>
              <a:t>Resim 3-Oyun Giriş Ekranı</a:t>
            </a:r>
          </a:p>
        </p:txBody>
      </p:sp>
      <p:sp>
        <p:nvSpPr>
          <p:cNvPr id="12" name="Metin kutusu 11">
            <a:extLst>
              <a:ext uri="{FF2B5EF4-FFF2-40B4-BE49-F238E27FC236}">
                <a16:creationId xmlns:a16="http://schemas.microsoft.com/office/drawing/2014/main" id="{A6D3BCAE-DBEB-057E-4CD2-FDDC66C61FC8}"/>
              </a:ext>
            </a:extLst>
          </p:cNvPr>
          <p:cNvSpPr txBox="1"/>
          <p:nvPr/>
        </p:nvSpPr>
        <p:spPr>
          <a:xfrm>
            <a:off x="5398816" y="5099316"/>
            <a:ext cx="5436333" cy="400110"/>
          </a:xfrm>
          <a:prstGeom prst="rect">
            <a:avLst/>
          </a:prstGeom>
          <a:noFill/>
        </p:spPr>
        <p:txBody>
          <a:bodyPr wrap="square" rtlCol="0">
            <a:spAutoFit/>
          </a:bodyPr>
          <a:lstStyle/>
          <a:p>
            <a:pPr algn="ctr"/>
            <a:r>
              <a:rPr lang="tr-TR" sz="2000" dirty="0">
                <a:latin typeface="Times New Roman" panose="02020603050405020304" pitchFamily="18" charset="0"/>
                <a:cs typeface="Times New Roman" panose="02020603050405020304" pitchFamily="18" charset="0"/>
              </a:rPr>
              <a:t>Resim 4-Karakter Seçim Ekranı</a:t>
            </a:r>
          </a:p>
        </p:txBody>
      </p:sp>
    </p:spTree>
    <p:extLst>
      <p:ext uri="{BB962C8B-B14F-4D97-AF65-F5344CB8AC3E}">
        <p14:creationId xmlns:p14="http://schemas.microsoft.com/office/powerpoint/2010/main" val="758693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F9EFA0A-BF9E-7D66-F099-2A4CEFA5B221}"/>
              </a:ext>
            </a:extLst>
          </p:cNvPr>
          <p:cNvSpPr>
            <a:spLocks noGrp="1"/>
          </p:cNvSpPr>
          <p:nvPr>
            <p:ph type="title"/>
          </p:nvPr>
        </p:nvSpPr>
        <p:spPr/>
        <p:txBody>
          <a:bodyPr>
            <a:normAutofit/>
          </a:bodyPr>
          <a:lstStyle/>
          <a:p>
            <a:r>
              <a:rPr lang="tr-TR" sz="3000" dirty="0">
                <a:solidFill>
                  <a:srgbClr val="FF0000"/>
                </a:solidFill>
              </a:rPr>
              <a:t>KAĞIT PROTOTİPLER</a:t>
            </a:r>
          </a:p>
        </p:txBody>
      </p:sp>
      <p:pic>
        <p:nvPicPr>
          <p:cNvPr id="6" name="Resim 5">
            <a:extLst>
              <a:ext uri="{FF2B5EF4-FFF2-40B4-BE49-F238E27FC236}">
                <a16:creationId xmlns:a16="http://schemas.microsoft.com/office/drawing/2014/main" id="{9A4B0D56-D10B-9387-DBF3-7F22D1D92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857907" y="669230"/>
            <a:ext cx="4006093" cy="6050278"/>
          </a:xfrm>
          <a:prstGeom prst="rect">
            <a:avLst/>
          </a:prstGeom>
        </p:spPr>
      </p:pic>
      <p:sp>
        <p:nvSpPr>
          <p:cNvPr id="16" name="Metin kutusu 15">
            <a:extLst>
              <a:ext uri="{FF2B5EF4-FFF2-40B4-BE49-F238E27FC236}">
                <a16:creationId xmlns:a16="http://schemas.microsoft.com/office/drawing/2014/main" id="{D09FCEAB-B74B-6325-5659-EA26591AE066}"/>
              </a:ext>
            </a:extLst>
          </p:cNvPr>
          <p:cNvSpPr txBox="1"/>
          <p:nvPr/>
        </p:nvSpPr>
        <p:spPr>
          <a:xfrm>
            <a:off x="2835815" y="5697416"/>
            <a:ext cx="6050278" cy="400110"/>
          </a:xfrm>
          <a:prstGeom prst="rect">
            <a:avLst/>
          </a:prstGeom>
          <a:noFill/>
        </p:spPr>
        <p:txBody>
          <a:bodyPr wrap="square" rtlCol="0">
            <a:spAutoFit/>
          </a:bodyPr>
          <a:lstStyle/>
          <a:p>
            <a:pPr algn="ctr"/>
            <a:r>
              <a:rPr lang="tr-TR" sz="2000" dirty="0">
                <a:latin typeface="Times New Roman" panose="02020603050405020304" pitchFamily="18" charset="0"/>
                <a:cs typeface="Times New Roman" panose="02020603050405020304" pitchFamily="18" charset="0"/>
              </a:rPr>
              <a:t>Resim 5-Oyun Ekranı</a:t>
            </a:r>
          </a:p>
        </p:txBody>
      </p:sp>
    </p:spTree>
    <p:extLst>
      <p:ext uri="{BB962C8B-B14F-4D97-AF65-F5344CB8AC3E}">
        <p14:creationId xmlns:p14="http://schemas.microsoft.com/office/powerpoint/2010/main" val="197860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250DA3-3DEF-F9F5-1EC3-7295265433E8}"/>
              </a:ext>
            </a:extLst>
          </p:cNvPr>
          <p:cNvSpPr>
            <a:spLocks noGrp="1"/>
          </p:cNvSpPr>
          <p:nvPr>
            <p:ph type="title"/>
          </p:nvPr>
        </p:nvSpPr>
        <p:spPr>
          <a:xfrm>
            <a:off x="600690" y="436098"/>
            <a:ext cx="9692640" cy="1139483"/>
          </a:xfrm>
        </p:spPr>
        <p:txBody>
          <a:bodyPr>
            <a:normAutofit/>
          </a:bodyPr>
          <a:lstStyle/>
          <a:p>
            <a:r>
              <a:rPr lang="tr-TR" sz="3000" dirty="0">
                <a:solidFill>
                  <a:srgbClr val="FF0000"/>
                </a:solidFill>
              </a:rPr>
              <a:t>KODLAMA</a:t>
            </a:r>
          </a:p>
        </p:txBody>
      </p:sp>
      <p:sp>
        <p:nvSpPr>
          <p:cNvPr id="10" name="Rectangle 4">
            <a:extLst>
              <a:ext uri="{FF2B5EF4-FFF2-40B4-BE49-F238E27FC236}">
                <a16:creationId xmlns:a16="http://schemas.microsoft.com/office/drawing/2014/main" id="{257B545A-9CF1-1CDB-9AFA-B8FA9881862E}"/>
              </a:ext>
            </a:extLst>
          </p:cNvPr>
          <p:cNvSpPr>
            <a:spLocks noGrp="1" noChangeArrowheads="1"/>
          </p:cNvSpPr>
          <p:nvPr>
            <p:ph idx="1"/>
          </p:nvPr>
        </p:nvSpPr>
        <p:spPr bwMode="auto">
          <a:xfrm>
            <a:off x="211015" y="1879662"/>
            <a:ext cx="1078299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Cube</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Jump’ın</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kodlama aşamasında, </a:t>
            </a: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Unity</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oyun motoru ve C# diliyle üç temel mekanik geliştirilmiştir. İlk olarak, karakterin zıplama hareketini kararlı kılmak adına Rigidbody2D bileşeni kullanılmış ve havada asılı kalma hatalarını önleyen zemin kontrolü (</a:t>
            </a: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ground</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check</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algoritmaları yazılmıştır. İkinci olarak, sonsuz döngüyü sağlamak amacıyla rastgele aralıklarla engeller türeten ve ekran dışına çıkan nesneleri hafızayı korumak için yok eden dinamik bir üretim (</a:t>
            </a: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Spawner</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mimarisi kurulmuştur. Son olarak, oyuncunun seçtiği küp modelinin oyun sahnesine hatasız aktarılması sağlanmış ve en yüksek skorun tarayıcı/cihaz hafızasında (</a:t>
            </a:r>
            <a:r>
              <a:rPr kumimoji="0" lang="tr-TR" altLang="tr-TR"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PlayerPrefs</a:t>
            </a:r>
            <a:r>
              <a:rPr kumimoji="0" lang="tr-TR" altLang="tr-TR"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güvenle saklanması kodlanmıştır.</a:t>
            </a:r>
          </a:p>
        </p:txBody>
      </p:sp>
      <p:pic>
        <p:nvPicPr>
          <p:cNvPr id="14" name="Resim 13">
            <a:extLst>
              <a:ext uri="{FF2B5EF4-FFF2-40B4-BE49-F238E27FC236}">
                <a16:creationId xmlns:a16="http://schemas.microsoft.com/office/drawing/2014/main" id="{99D6A6BC-3C32-CFD8-34EA-214570D6C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015" y="4616548"/>
            <a:ext cx="2984500" cy="1676400"/>
          </a:xfrm>
          <a:prstGeom prst="rect">
            <a:avLst/>
          </a:prstGeom>
        </p:spPr>
      </p:pic>
      <p:pic>
        <p:nvPicPr>
          <p:cNvPr id="16" name="Resim 15">
            <a:extLst>
              <a:ext uri="{FF2B5EF4-FFF2-40B4-BE49-F238E27FC236}">
                <a16:creationId xmlns:a16="http://schemas.microsoft.com/office/drawing/2014/main" id="{3475B247-9990-B0C1-B0F4-802A9FB1B1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5515" y="4354538"/>
            <a:ext cx="2734993" cy="2503462"/>
          </a:xfrm>
          <a:prstGeom prst="rect">
            <a:avLst/>
          </a:prstGeom>
        </p:spPr>
      </p:pic>
    </p:spTree>
    <p:extLst>
      <p:ext uri="{BB962C8B-B14F-4D97-AF65-F5344CB8AC3E}">
        <p14:creationId xmlns:p14="http://schemas.microsoft.com/office/powerpoint/2010/main" val="3513206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FEC44C4-7526-D718-2344-ED35111E74C4}"/>
              </a:ext>
            </a:extLst>
          </p:cNvPr>
          <p:cNvSpPr>
            <a:spLocks noGrp="1"/>
          </p:cNvSpPr>
          <p:nvPr>
            <p:ph type="title"/>
          </p:nvPr>
        </p:nvSpPr>
        <p:spPr>
          <a:xfrm>
            <a:off x="731520" y="365760"/>
            <a:ext cx="10222992" cy="970671"/>
          </a:xfrm>
        </p:spPr>
        <p:txBody>
          <a:bodyPr>
            <a:normAutofit/>
          </a:bodyPr>
          <a:lstStyle/>
          <a:p>
            <a:r>
              <a:rPr lang="tr-TR" sz="3000" dirty="0">
                <a:solidFill>
                  <a:srgbClr val="FF0000"/>
                </a:solidFill>
              </a:rPr>
              <a:t>BAKIM</a:t>
            </a:r>
          </a:p>
        </p:txBody>
      </p:sp>
      <p:sp>
        <p:nvSpPr>
          <p:cNvPr id="3" name="İçerik Yer Tutucusu 2">
            <a:extLst>
              <a:ext uri="{FF2B5EF4-FFF2-40B4-BE49-F238E27FC236}">
                <a16:creationId xmlns:a16="http://schemas.microsoft.com/office/drawing/2014/main" id="{34EEC78C-7D28-3467-1D72-91166B41F212}"/>
              </a:ext>
            </a:extLst>
          </p:cNvPr>
          <p:cNvSpPr>
            <a:spLocks noGrp="1"/>
          </p:cNvSpPr>
          <p:nvPr>
            <p:ph idx="1"/>
          </p:nvPr>
        </p:nvSpPr>
        <p:spPr>
          <a:xfrm>
            <a:off x="731520" y="1674056"/>
            <a:ext cx="9125712" cy="4506082"/>
          </a:xfrm>
        </p:spPr>
        <p:txBody>
          <a:bodyPr/>
          <a:lstStyle/>
          <a:p>
            <a:pPr marL="0" indent="0">
              <a:buNone/>
            </a:pPr>
            <a:r>
              <a:rPr lang="tr-TR" sz="2000" dirty="0" err="1">
                <a:latin typeface="Times New Roman" panose="02020603050405020304" pitchFamily="18" charset="0"/>
                <a:cs typeface="Times New Roman" panose="02020603050405020304" pitchFamily="18" charset="0"/>
              </a:rPr>
              <a:t>Cube</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Jump’ın</a:t>
            </a:r>
            <a:r>
              <a:rPr lang="tr-TR" sz="2000" dirty="0">
                <a:latin typeface="Times New Roman" panose="02020603050405020304" pitchFamily="18" charset="0"/>
                <a:cs typeface="Times New Roman" panose="02020603050405020304" pitchFamily="18" charset="0"/>
              </a:rPr>
              <a:t> sürdürülebilirliğini sağlamak amacıyla teknik optimizasyonlar ve gelecek odaklı güncellemeler planlanmıştır. Teknik bakım sürecinde, yeni </a:t>
            </a:r>
            <a:r>
              <a:rPr lang="tr-TR" sz="2000" dirty="0" err="1">
                <a:latin typeface="Times New Roman" panose="02020603050405020304" pitchFamily="18" charset="0"/>
                <a:cs typeface="Times New Roman" panose="02020603050405020304" pitchFamily="18" charset="0"/>
              </a:rPr>
              <a:t>Unity</a:t>
            </a:r>
            <a:r>
              <a:rPr lang="tr-TR" sz="2000" dirty="0">
                <a:latin typeface="Times New Roman" panose="02020603050405020304" pitchFamily="18" charset="0"/>
                <a:cs typeface="Times New Roman" panose="02020603050405020304" pitchFamily="18" charset="0"/>
              </a:rPr>
              <a:t> sürümleriyle uyumluluk, performans iyileştirmeleri ve hata giderme çalışmaları yürütülecektir. Projenin gelecek planlamasında ise öğrencilerin ilgisini sürekli canlı tutmak adına; okul içi rekabeti artıracak çevrimiçi liderlik tablosu , yeni engel tipleri, farklı görsel temalar ve zenginleştirilmiş ses efektlerinin oyuna eklenmesi hedeflenmektedir.</a:t>
            </a:r>
            <a:endParaRPr lang="tr-TR" dirty="0"/>
          </a:p>
        </p:txBody>
      </p:sp>
    </p:spTree>
    <p:extLst>
      <p:ext uri="{BB962C8B-B14F-4D97-AF65-F5344CB8AC3E}">
        <p14:creationId xmlns:p14="http://schemas.microsoft.com/office/powerpoint/2010/main" val="4071825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CD1DBF-764C-4FD3-6B7B-81BFC4F79ACE}"/>
              </a:ext>
            </a:extLst>
          </p:cNvPr>
          <p:cNvSpPr>
            <a:spLocks noGrp="1"/>
          </p:cNvSpPr>
          <p:nvPr>
            <p:ph type="title"/>
          </p:nvPr>
        </p:nvSpPr>
        <p:spPr>
          <a:xfrm>
            <a:off x="970671" y="365760"/>
            <a:ext cx="9983841" cy="970671"/>
          </a:xfrm>
        </p:spPr>
        <p:txBody>
          <a:bodyPr>
            <a:normAutofit/>
          </a:bodyPr>
          <a:lstStyle/>
          <a:p>
            <a:r>
              <a:rPr lang="tr-TR" sz="3000" dirty="0">
                <a:solidFill>
                  <a:srgbClr val="FF0000"/>
                </a:solidFill>
              </a:rPr>
              <a:t>SONUÇ</a:t>
            </a:r>
          </a:p>
        </p:txBody>
      </p:sp>
      <p:sp>
        <p:nvSpPr>
          <p:cNvPr id="3" name="İçerik Yer Tutucusu 2">
            <a:extLst>
              <a:ext uri="{FF2B5EF4-FFF2-40B4-BE49-F238E27FC236}">
                <a16:creationId xmlns:a16="http://schemas.microsoft.com/office/drawing/2014/main" id="{A94DB072-85DB-3E14-64EB-F1ACD221AA89}"/>
              </a:ext>
            </a:extLst>
          </p:cNvPr>
          <p:cNvSpPr>
            <a:spLocks noGrp="1"/>
          </p:cNvSpPr>
          <p:nvPr>
            <p:ph idx="1"/>
          </p:nvPr>
        </p:nvSpPr>
        <p:spPr>
          <a:xfrm>
            <a:off x="970671" y="1758462"/>
            <a:ext cx="8886561" cy="4421675"/>
          </a:xfrm>
        </p:spPr>
        <p:txBody>
          <a:bodyPr>
            <a:normAutofit/>
          </a:bodyPr>
          <a:lstStyle/>
          <a:p>
            <a:pPr marL="0" indent="0">
              <a:buNone/>
            </a:pPr>
            <a:r>
              <a:rPr lang="tr-TR" sz="2000" dirty="0" err="1">
                <a:latin typeface="Times New Roman" panose="02020603050405020304" pitchFamily="18" charset="0"/>
                <a:cs typeface="Times New Roman" panose="02020603050405020304" pitchFamily="18" charset="0"/>
              </a:rPr>
              <a:t>Cube</a:t>
            </a:r>
            <a:r>
              <a:rPr lang="tr-TR" sz="2000" dirty="0">
                <a:latin typeface="Times New Roman" panose="02020603050405020304" pitchFamily="18" charset="0"/>
                <a:cs typeface="Times New Roman" panose="02020603050405020304" pitchFamily="18" charset="0"/>
              </a:rPr>
              <a:t> </a:t>
            </a:r>
            <a:r>
              <a:rPr lang="tr-TR" sz="2000" dirty="0" err="1">
                <a:latin typeface="Times New Roman" panose="02020603050405020304" pitchFamily="18" charset="0"/>
                <a:cs typeface="Times New Roman" panose="02020603050405020304" pitchFamily="18" charset="0"/>
              </a:rPr>
              <a:t>Jump</a:t>
            </a:r>
            <a:r>
              <a:rPr lang="tr-TR" sz="2000" dirty="0">
                <a:latin typeface="Times New Roman" panose="02020603050405020304" pitchFamily="18" charset="0"/>
                <a:cs typeface="Times New Roman" panose="02020603050405020304" pitchFamily="18" charset="0"/>
              </a:rPr>
              <a:t> projesi, başlangıçta hedeflenen  gözlemler ve teknik gereksinimler doğrultusunda başarıyla tamamlanmıştır. Chrome Dinozor oyunundan alınan ilham, </a:t>
            </a:r>
            <a:r>
              <a:rPr lang="tr-TR" sz="2000" dirty="0" err="1">
                <a:latin typeface="Times New Roman" panose="02020603050405020304" pitchFamily="18" charset="0"/>
                <a:cs typeface="Times New Roman" panose="02020603050405020304" pitchFamily="18" charset="0"/>
              </a:rPr>
              <a:t>Unity’nin</a:t>
            </a:r>
            <a:r>
              <a:rPr lang="tr-TR" sz="2000" dirty="0">
                <a:latin typeface="Times New Roman" panose="02020603050405020304" pitchFamily="18" charset="0"/>
                <a:cs typeface="Times New Roman" panose="02020603050405020304" pitchFamily="18" charset="0"/>
              </a:rPr>
              <a:t> güçlü fizik motoru ve C# mimarisiyle modernize edilerek özgün bir yazılım ürününe dönüştürülmüştür. Tasarlanan üç aşamalı oyun akışının (Menü, Karakter Seçimi, Oyun) hatasız çalışması ve yüksek performans değerlerine ulaşılması, projenin hem tasarım hem de hedeflerini karşılamıştır Sonuç olarak bu çalışma; basit mekaniklerin doğru teknoloji ve estetikle birleştiğinde öğrenciler için nasıl yüksek motivasyonlu bir odaklanma aracına dönüşebileceğini başarıyla ortaya koymuştur.</a:t>
            </a:r>
          </a:p>
        </p:txBody>
      </p:sp>
    </p:spTree>
    <p:extLst>
      <p:ext uri="{BB962C8B-B14F-4D97-AF65-F5344CB8AC3E}">
        <p14:creationId xmlns:p14="http://schemas.microsoft.com/office/powerpoint/2010/main" val="1111143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3AA995-FD7D-D6B1-317B-25D05BBE3826}"/>
              </a:ext>
            </a:extLst>
          </p:cNvPr>
          <p:cNvSpPr>
            <a:spLocks noGrp="1"/>
          </p:cNvSpPr>
          <p:nvPr>
            <p:ph type="title"/>
          </p:nvPr>
        </p:nvSpPr>
        <p:spPr>
          <a:xfrm>
            <a:off x="647114" y="365760"/>
            <a:ext cx="10307398" cy="970671"/>
          </a:xfrm>
        </p:spPr>
        <p:txBody>
          <a:bodyPr>
            <a:normAutofit/>
          </a:bodyPr>
          <a:lstStyle/>
          <a:p>
            <a:r>
              <a:rPr lang="tr-TR" sz="3000" dirty="0">
                <a:solidFill>
                  <a:srgbClr val="FF0000"/>
                </a:solidFill>
              </a:rPr>
              <a:t>KAYNAKÇA</a:t>
            </a:r>
          </a:p>
        </p:txBody>
      </p:sp>
      <p:sp>
        <p:nvSpPr>
          <p:cNvPr id="3" name="İçerik Yer Tutucusu 2">
            <a:extLst>
              <a:ext uri="{FF2B5EF4-FFF2-40B4-BE49-F238E27FC236}">
                <a16:creationId xmlns:a16="http://schemas.microsoft.com/office/drawing/2014/main" id="{50A4B2A8-3C37-1B4B-D737-1564E0506196}"/>
              </a:ext>
            </a:extLst>
          </p:cNvPr>
          <p:cNvSpPr>
            <a:spLocks noGrp="1"/>
          </p:cNvSpPr>
          <p:nvPr>
            <p:ph idx="1"/>
          </p:nvPr>
        </p:nvSpPr>
        <p:spPr>
          <a:xfrm>
            <a:off x="647114" y="1645921"/>
            <a:ext cx="9210118" cy="4506082"/>
          </a:xfrm>
        </p:spPr>
        <p:txBody>
          <a:bodyPr/>
          <a:lstStyle/>
          <a:p>
            <a:pPr marL="342900" indent="-342900">
              <a:buFont typeface="+mj-lt"/>
              <a:buAutoNum type="arabicPeriod"/>
            </a:pPr>
            <a:r>
              <a:rPr lang="sv-SE" dirty="0">
                <a:latin typeface="Times New Roman" panose="02020603050405020304" pitchFamily="18" charset="0"/>
                <a:cs typeface="Times New Roman" panose="02020603050405020304" pitchFamily="18" charset="0"/>
              </a:rPr>
              <a:t>Pinterest Inc., (2024), Pinterest [Görsel/Tasarım],</a:t>
            </a:r>
            <a:r>
              <a:rPr lang="tr-TR" dirty="0">
                <a:latin typeface="Times New Roman" panose="02020603050405020304" pitchFamily="18" charset="0"/>
                <a:cs typeface="Times New Roman" panose="02020603050405020304" pitchFamily="18" charset="0"/>
              </a:rPr>
              <a:t> </a:t>
            </a:r>
            <a:r>
              <a:rPr lang="tr-TR" dirty="0">
                <a:hlinkClick r:id="rId2"/>
              </a:rPr>
              <a:t>https://tr.pinterest.com/</a:t>
            </a:r>
            <a:endParaRPr lang="tr-TR" dirty="0"/>
          </a:p>
          <a:p>
            <a:pPr marL="342900" indent="-342900">
              <a:buFont typeface="+mj-lt"/>
              <a:buAutoNum type="arabicPeriod"/>
            </a:pPr>
            <a:r>
              <a:rPr lang="tr-TR" dirty="0"/>
              <a:t>Google, (2024), Gemini [Yapay Zeka Modeli], </a:t>
            </a:r>
            <a:r>
              <a:rPr lang="tr-TR" dirty="0">
                <a:hlinkClick r:id="rId3"/>
              </a:rPr>
              <a:t>https://gemini.google.com/app?hl=tr</a:t>
            </a:r>
            <a:endParaRPr lang="tr-TR" dirty="0"/>
          </a:p>
          <a:p>
            <a:pPr marL="342900" indent="-342900">
              <a:buFont typeface="+mj-lt"/>
              <a:buAutoNum type="arabicPeriod"/>
            </a:pPr>
            <a:r>
              <a:rPr lang="en-US" dirty="0"/>
              <a:t>Unity Technologies, (2024), Unity [</a:t>
            </a:r>
            <a:r>
              <a:rPr lang="en-US" dirty="0" err="1"/>
              <a:t>Yazılım</a:t>
            </a:r>
            <a:r>
              <a:rPr lang="en-US" dirty="0"/>
              <a:t>/Oyun </a:t>
            </a:r>
            <a:r>
              <a:rPr lang="en-US" dirty="0" err="1"/>
              <a:t>Motoru</a:t>
            </a:r>
            <a:r>
              <a:rPr lang="en-US" dirty="0"/>
              <a:t>], </a:t>
            </a:r>
            <a:r>
              <a:rPr lang="tr-TR" dirty="0">
                <a:hlinkClick r:id="rId4"/>
              </a:rPr>
              <a:t>https://unity.com/</a:t>
            </a:r>
            <a:endParaRPr lang="tr-TR" dirty="0"/>
          </a:p>
          <a:p>
            <a:pPr marL="342900" indent="-342900">
              <a:buFont typeface="+mj-lt"/>
              <a:buAutoNum type="arabicPeriod"/>
            </a:pPr>
            <a:r>
              <a:rPr lang="tr-TR" dirty="0">
                <a:hlinkClick r:id="rId5"/>
              </a:rPr>
              <a:t> </a:t>
            </a:r>
            <a:r>
              <a:rPr lang="tr-TR" dirty="0"/>
              <a:t>Microsoft, (2024), C# [Programlama Dili],</a:t>
            </a:r>
            <a:r>
              <a:rPr lang="tr-TR" dirty="0">
                <a:hlinkClick r:id="rId5"/>
              </a:rPr>
              <a:t>https://learn.microsoft.com/tr-tr/dotnet/csharp/</a:t>
            </a:r>
            <a:r>
              <a:rPr lang="tr-TR" dirty="0"/>
              <a:t> </a:t>
            </a:r>
          </a:p>
          <a:p>
            <a:pPr marL="342900" indent="-342900">
              <a:buFont typeface="+mj-lt"/>
              <a:buAutoNum type="arabicPeriod"/>
            </a:pPr>
            <a:r>
              <a:rPr lang="tr-TR" dirty="0"/>
              <a:t> Ata Kavuncu, "Yazılım Geliştirme Yaşam Döngüsü ve Modelleri" (</a:t>
            </a:r>
            <a:r>
              <a:rPr lang="tr-TR" dirty="0" err="1"/>
              <a:t>Medium</a:t>
            </a:r>
            <a:r>
              <a:rPr lang="tr-TR" dirty="0"/>
              <a:t>, 2021)</a:t>
            </a:r>
            <a:r>
              <a:rPr lang="tr-TR" dirty="0">
                <a:hlinkClick r:id="rId6"/>
              </a:rPr>
              <a:t>https://atakavuncu.medium.com/yaz%C4%B1l%C4%B1m-geli%C5%9Ftirme-ya%C5%9Fam-d%C3%B6ng%C3%BCs%C3%BC-ve-modelleri-f4738b5cfcc1</a:t>
            </a:r>
            <a:r>
              <a:rPr lang="tr-TR" dirty="0"/>
              <a:t> </a:t>
            </a:r>
          </a:p>
          <a:p>
            <a:pPr marL="342900" indent="-342900">
              <a:buFont typeface="+mj-lt"/>
              <a:buAutoNum type="arabicPeriod"/>
            </a:pPr>
            <a:endParaRPr lang="tr-TR" dirty="0"/>
          </a:p>
        </p:txBody>
      </p:sp>
    </p:spTree>
    <p:extLst>
      <p:ext uri="{BB962C8B-B14F-4D97-AF65-F5344CB8AC3E}">
        <p14:creationId xmlns:p14="http://schemas.microsoft.com/office/powerpoint/2010/main" val="355548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A55C3F7-8AB7-901A-CB39-1506A32F2CEF}"/>
              </a:ext>
            </a:extLst>
          </p:cNvPr>
          <p:cNvSpPr>
            <a:spLocks noGrp="1"/>
          </p:cNvSpPr>
          <p:nvPr>
            <p:ph idx="1"/>
          </p:nvPr>
        </p:nvSpPr>
        <p:spPr>
          <a:xfrm>
            <a:off x="633046" y="759655"/>
            <a:ext cx="9224186" cy="5420482"/>
          </a:xfrm>
        </p:spPr>
        <p:txBody>
          <a:bodyPr>
            <a:normAutofit/>
          </a:bodyPr>
          <a:lstStyle/>
          <a:p>
            <a:pPr marL="0" indent="0" algn="ctr">
              <a:buNone/>
            </a:pPr>
            <a:r>
              <a:rPr lang="tr-TR" sz="2800" dirty="0">
                <a:solidFill>
                  <a:srgbClr val="C00000"/>
                </a:solidFill>
              </a:rPr>
              <a:t>TEŞEKKÜRLER </a:t>
            </a:r>
          </a:p>
          <a:p>
            <a:pPr marL="0" indent="0" algn="ctr">
              <a:buNone/>
            </a:pPr>
            <a:r>
              <a:rPr lang="tr-TR" sz="2400" dirty="0"/>
              <a:t>Beni dinlediğiniz için teşekkür ederim.</a:t>
            </a:r>
          </a:p>
          <a:p>
            <a:pPr marL="0" indent="0" algn="ctr">
              <a:buNone/>
            </a:pPr>
            <a:endParaRPr lang="tr-TR" sz="2400" dirty="0"/>
          </a:p>
          <a:p>
            <a:pPr marL="0" indent="0" algn="ctr">
              <a:buNone/>
            </a:pPr>
            <a:r>
              <a:rPr lang="tr-TR" sz="2400" dirty="0"/>
              <a:t>MELİKE DUMAN</a:t>
            </a:r>
          </a:p>
          <a:p>
            <a:pPr marL="0" indent="0" algn="ctr">
              <a:buNone/>
            </a:pPr>
            <a:r>
              <a:rPr lang="tr-TR" sz="2400" dirty="0">
                <a:solidFill>
                  <a:schemeClr val="tx1">
                    <a:lumMod val="85000"/>
                    <a:lumOff val="15000"/>
                  </a:schemeClr>
                </a:solidFill>
              </a:rPr>
              <a:t>Bana ulaşmak için </a:t>
            </a:r>
          </a:p>
          <a:p>
            <a:pPr marL="0" indent="0" algn="ctr">
              <a:buNone/>
            </a:pPr>
            <a:r>
              <a:rPr lang="tr-TR" sz="2400" dirty="0">
                <a:hlinkClick r:id="rId2"/>
              </a:rPr>
              <a:t>dumanmelike617@gmail.com</a:t>
            </a:r>
            <a:endParaRPr lang="tr-TR" sz="2400" dirty="0"/>
          </a:p>
          <a:p>
            <a:pPr marL="0" indent="0" algn="ctr">
              <a:buNone/>
            </a:pPr>
            <a:r>
              <a:rPr lang="tr-TR" sz="2400" dirty="0"/>
              <a:t>Sorularınız varsa yanıtlamaktan memnuniyet duyarım.</a:t>
            </a:r>
          </a:p>
          <a:p>
            <a:pPr marL="0" indent="0" algn="ctr">
              <a:buNone/>
            </a:pPr>
            <a:endParaRPr lang="tr-TR" sz="2400" dirty="0"/>
          </a:p>
          <a:p>
            <a:pPr marL="0" indent="0" algn="ctr">
              <a:buNone/>
            </a:pPr>
            <a:endParaRPr lang="tr-TR" sz="2000" dirty="0"/>
          </a:p>
          <a:p>
            <a:pPr marL="0" indent="0" algn="ctr">
              <a:buNone/>
            </a:pPr>
            <a:endParaRPr lang="tr-TR" sz="2000" dirty="0"/>
          </a:p>
        </p:txBody>
      </p:sp>
    </p:spTree>
    <p:extLst>
      <p:ext uri="{BB962C8B-B14F-4D97-AF65-F5344CB8AC3E}">
        <p14:creationId xmlns:p14="http://schemas.microsoft.com/office/powerpoint/2010/main" val="2936140221"/>
      </p:ext>
    </p:extLst>
  </p:cSld>
  <p:clrMapOvr>
    <a:masterClrMapping/>
  </p:clrMapOvr>
</p:sld>
</file>

<file path=ppt/theme/theme1.xml><?xml version="1.0" encoding="utf-8"?>
<a:theme xmlns:a="http://schemas.openxmlformats.org/drawingml/2006/main" name="Manzara">
  <a:themeElements>
    <a:clrScheme name="Manzara">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Manzara">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nzara">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TotalTime>
  <Words>845</Words>
  <Application>Microsoft Office PowerPoint</Application>
  <PresentationFormat>Geniş ekran</PresentationFormat>
  <Paragraphs>45</Paragraphs>
  <Slides>13</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13</vt:i4>
      </vt:variant>
    </vt:vector>
  </HeadingPairs>
  <TitlesOfParts>
    <vt:vector size="19" baseType="lpstr">
      <vt:lpstr>Arial</vt:lpstr>
      <vt:lpstr>Calibri</vt:lpstr>
      <vt:lpstr>Century Schoolbook</vt:lpstr>
      <vt:lpstr>Times New Roman</vt:lpstr>
      <vt:lpstr>Wingdings 2</vt:lpstr>
      <vt:lpstr>Manzara</vt:lpstr>
      <vt:lpstr>CUBE  JUMP </vt:lpstr>
      <vt:lpstr>TANIM</vt:lpstr>
      <vt:lpstr>PLANLAMA</vt:lpstr>
      <vt:lpstr>ANALİZ</vt:lpstr>
      <vt:lpstr>TASARIM</vt:lpstr>
      <vt:lpstr>KULLANILAN SÜREÇ MODELİ</vt:lpstr>
      <vt:lpstr>KAĞIT PROTİPLER</vt:lpstr>
      <vt:lpstr>KAĞIT PROTOTİPLER</vt:lpstr>
      <vt:lpstr>KODLAMA</vt:lpstr>
      <vt:lpstr>BAKIM</vt:lpstr>
      <vt:lpstr>SONUÇ</vt:lpstr>
      <vt:lpstr>KAYNAKÇA</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YAVUZ DUMAN</dc:creator>
  <cp:lastModifiedBy>YAVUZ DUMAN</cp:lastModifiedBy>
  <cp:revision>2</cp:revision>
  <dcterms:created xsi:type="dcterms:W3CDTF">2026-05-23T17:22:11Z</dcterms:created>
  <dcterms:modified xsi:type="dcterms:W3CDTF">2026-05-28T13:21:18Z</dcterms:modified>
</cp:coreProperties>
</file>